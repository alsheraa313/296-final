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6858000" cy="9144000"/>
  <p:embeddedFontLst>
    <p:embeddedFont>
      <p:font typeface="Century Gothic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h0UB7z9Rl3uHKOeszYPpGloIBt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CenturyGothic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enturyGothic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enturyGothic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4" name="Google Shape;24;p1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1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15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31" name="Google Shape;31;p15"/>
          <p:cNvSpPr txBox="1"/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" type="subTitle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0" type="dt"/>
          </p:nvPr>
        </p:nvSpPr>
        <p:spPr>
          <a:xfrm rot="5400000">
            <a:off x="7498080" y="182880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1" type="ftr"/>
          </p:nvPr>
        </p:nvSpPr>
        <p:spPr>
          <a:xfrm rot="5400000">
            <a:off x="6236208" y="326440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6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62" name="Google Shape;62;p1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4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69" name="Google Shape;69;p14"/>
          <p:cNvSpPr txBox="1"/>
          <p:nvPr>
            <p:ph type="ctrTitle"/>
          </p:nvPr>
        </p:nvSpPr>
        <p:spPr>
          <a:xfrm>
            <a:off x="866440" y="2226503"/>
            <a:ext cx="5917679" cy="25508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entury Gothic"/>
              <a:buNone/>
              <a:defRPr sz="4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866440" y="4777380"/>
            <a:ext cx="5917679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 rot="5400000">
            <a:off x="7498080" y="1828800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 rot="5400000">
            <a:off x="6236208" y="3264408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77" name="Google Shape;77;p1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7"/>
            <p:cNvSpPr/>
            <p:nvPr/>
          </p:nvSpPr>
          <p:spPr>
            <a:xfrm rot="-5400000">
              <a:off x="3105027" y="1765596"/>
              <a:ext cx="5995993" cy="3326809"/>
            </a:xfrm>
            <a:custGeom>
              <a:rect b="b" l="l" r="r" t="t"/>
              <a:pathLst>
                <a:path extrusionOk="0" h="2752" w="496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85" name="Google Shape;85;p17"/>
            <p:cNvSpPr/>
            <p:nvPr/>
          </p:nvSpPr>
          <p:spPr>
            <a:xfrm rot="-5912394">
              <a:off x="3320102" y="145837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87" name="Google Shape;87;p17"/>
          <p:cNvSpPr txBox="1"/>
          <p:nvPr>
            <p:ph type="title"/>
          </p:nvPr>
        </p:nvSpPr>
        <p:spPr>
          <a:xfrm>
            <a:off x="877534" y="2257588"/>
            <a:ext cx="3090672" cy="3020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sz="32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5119261" y="2257588"/>
            <a:ext cx="3082516" cy="3020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9" name="Google Shape;89;p17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866440" y="2489200"/>
            <a:ext cx="3636980" cy="3530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640581" y="2489203"/>
            <a:ext cx="363698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869918" y="2489200"/>
            <a:ext cx="3633502" cy="7592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866440" y="3248490"/>
            <a:ext cx="3636980" cy="2771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3" type="body"/>
          </p:nvPr>
        </p:nvSpPr>
        <p:spPr>
          <a:xfrm>
            <a:off x="4640581" y="2489200"/>
            <a:ext cx="3636979" cy="7566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5" name="Google Shape;105;p19"/>
          <p:cNvSpPr txBox="1"/>
          <p:nvPr>
            <p:ph idx="4" type="body"/>
          </p:nvPr>
        </p:nvSpPr>
        <p:spPr>
          <a:xfrm>
            <a:off x="4640581" y="3245835"/>
            <a:ext cx="3636980" cy="27739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9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1" name="Google Shape;121;p2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2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2"/>
            <p:cNvSpPr/>
            <p:nvPr/>
          </p:nvSpPr>
          <p:spPr>
            <a:xfrm rot="-5400000">
              <a:off x="2548536" y="1765596"/>
              <a:ext cx="5995993" cy="3326809"/>
            </a:xfrm>
            <a:custGeom>
              <a:rect b="b" l="l" r="r" t="t"/>
              <a:pathLst>
                <a:path extrusionOk="0" h="2752" w="496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29" name="Google Shape;129;p22"/>
            <p:cNvSpPr/>
            <p:nvPr/>
          </p:nvSpPr>
          <p:spPr>
            <a:xfrm rot="-5912394">
              <a:off x="2769747" y="145837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2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31" name="Google Shape;131;p22"/>
          <p:cNvSpPr txBox="1"/>
          <p:nvPr>
            <p:ph type="title"/>
          </p:nvPr>
        </p:nvSpPr>
        <p:spPr>
          <a:xfrm>
            <a:off x="866440" y="1447800"/>
            <a:ext cx="2712590" cy="14955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568927" y="1447800"/>
            <a:ext cx="36328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2" type="body"/>
          </p:nvPr>
        </p:nvSpPr>
        <p:spPr>
          <a:xfrm>
            <a:off x="866441" y="3086845"/>
            <a:ext cx="2712589" cy="29337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4" name="Google Shape;134;p22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2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2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0" name="Google Shape;140;p2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3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3"/>
            <p:cNvSpPr/>
            <p:nvPr/>
          </p:nvSpPr>
          <p:spPr>
            <a:xfrm rot="-5400000">
              <a:off x="2852610" y="1765596"/>
              <a:ext cx="5995993" cy="3326809"/>
            </a:xfrm>
            <a:custGeom>
              <a:rect b="b" l="l" r="r" t="t"/>
              <a:pathLst>
                <a:path extrusionOk="0" h="2752" w="496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48" name="Google Shape;148;p23"/>
            <p:cNvSpPr/>
            <p:nvPr/>
          </p:nvSpPr>
          <p:spPr>
            <a:xfrm rot="-5912394">
              <a:off x="3074559" y="145837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3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50" name="Google Shape;150;p23"/>
          <p:cNvSpPr txBox="1"/>
          <p:nvPr>
            <p:ph type="title"/>
          </p:nvPr>
        </p:nvSpPr>
        <p:spPr>
          <a:xfrm>
            <a:off x="866440" y="1381390"/>
            <a:ext cx="2987089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/>
          <p:nvPr>
            <p:ph idx="2" type="pic"/>
          </p:nvPr>
        </p:nvSpPr>
        <p:spPr>
          <a:xfrm>
            <a:off x="4722909" y="1320800"/>
            <a:ext cx="2791102" cy="42164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866440" y="3086100"/>
            <a:ext cx="2987089" cy="24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3" name="Google Shape;153;p23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 showMasterSp="0">
  <p:cSld name="Panoramic Picture with Caption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4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59" name="Google Shape;159;p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4"/>
            <p:cNvSpPr/>
            <p:nvPr/>
          </p:nvSpPr>
          <p:spPr>
            <a:xfrm rot="10204164">
              <a:off x="426788" y="4564241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4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4"/>
            <p:cNvSpPr/>
            <p:nvPr/>
          </p:nvSpPr>
          <p:spPr>
            <a:xfrm rot="10800000">
              <a:off x="485023" y="2670079"/>
              <a:ext cx="8182128" cy="2130508"/>
            </a:xfrm>
            <a:custGeom>
              <a:rect b="b" l="l" r="r" t="t"/>
              <a:pathLst>
                <a:path extrusionOk="0" h="9621" w="1000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4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69" name="Google Shape;169;p24"/>
          <p:cNvSpPr txBox="1"/>
          <p:nvPr>
            <p:ph type="title"/>
          </p:nvPr>
        </p:nvSpPr>
        <p:spPr>
          <a:xfrm>
            <a:off x="866441" y="4961454"/>
            <a:ext cx="6422004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b="0" sz="2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4"/>
          <p:cNvSpPr/>
          <p:nvPr>
            <p:ph idx="2" type="pic"/>
          </p:nvPr>
        </p:nvSpPr>
        <p:spPr>
          <a:xfrm>
            <a:off x="866441" y="685800"/>
            <a:ext cx="6422004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866440" y="5528192"/>
            <a:ext cx="6422004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2" name="Google Shape;172;p24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4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4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 showMasterSp="0">
  <p:cSld name="Title and Caption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78" name="Google Shape;178;p25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5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5"/>
            <p:cNvSpPr/>
            <p:nvPr/>
          </p:nvSpPr>
          <p:spPr>
            <a:xfrm rot="-589932">
              <a:off x="6359946" y="2780895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5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5"/>
            <p:cNvSpPr/>
            <p:nvPr/>
          </p:nvSpPr>
          <p:spPr>
            <a:xfrm>
              <a:off x="485023" y="2854646"/>
              <a:ext cx="8182128" cy="2130508"/>
            </a:xfrm>
            <a:custGeom>
              <a:rect b="b" l="l" r="r" t="t"/>
              <a:pathLst>
                <a:path extrusionOk="0" h="9621" w="1000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5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88" name="Google Shape;188;p25"/>
          <p:cNvSpPr txBox="1"/>
          <p:nvPr>
            <p:ph type="title"/>
          </p:nvPr>
        </p:nvSpPr>
        <p:spPr>
          <a:xfrm>
            <a:off x="866440" y="927100"/>
            <a:ext cx="6422005" cy="16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866440" y="3488023"/>
            <a:ext cx="6422005" cy="2536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90" name="Google Shape;190;p25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5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5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 showMasterSp="0">
  <p:cSld name="Quote with Caption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2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96" name="Google Shape;196;p26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6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6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6"/>
            <p:cNvSpPr/>
            <p:nvPr/>
          </p:nvSpPr>
          <p:spPr>
            <a:xfrm rot="-589932">
              <a:off x="6359946" y="4309201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6"/>
            <p:cNvSpPr/>
            <p:nvPr/>
          </p:nvSpPr>
          <p:spPr>
            <a:xfrm>
              <a:off x="485023" y="4381500"/>
              <a:ext cx="8182128" cy="2130508"/>
            </a:xfrm>
            <a:custGeom>
              <a:rect b="b" l="l" r="r" t="t"/>
              <a:pathLst>
                <a:path extrusionOk="0" h="9621" w="1000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6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05" name="Google Shape;205;p26"/>
          <p:cNvSpPr txBox="1"/>
          <p:nvPr/>
        </p:nvSpPr>
        <p:spPr>
          <a:xfrm>
            <a:off x="647430" y="651690"/>
            <a:ext cx="601591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206" name="Google Shape;206;p26"/>
          <p:cNvSpPr txBox="1"/>
          <p:nvPr/>
        </p:nvSpPr>
        <p:spPr>
          <a:xfrm>
            <a:off x="7069418" y="2900292"/>
            <a:ext cx="619063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207" name="Google Shape;207;p26"/>
          <p:cNvSpPr txBox="1"/>
          <p:nvPr>
            <p:ph type="title"/>
          </p:nvPr>
        </p:nvSpPr>
        <p:spPr>
          <a:xfrm>
            <a:off x="1128060" y="927099"/>
            <a:ext cx="6160385" cy="28821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1387278" y="3809278"/>
            <a:ext cx="5646143" cy="33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09" name="Google Shape;209;p26"/>
          <p:cNvSpPr txBox="1"/>
          <p:nvPr>
            <p:ph idx="2" type="body"/>
          </p:nvPr>
        </p:nvSpPr>
        <p:spPr>
          <a:xfrm>
            <a:off x="866440" y="5000816"/>
            <a:ext cx="6343673" cy="1010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10" name="Google Shape;210;p26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6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6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 showMasterSp="0">
  <p:cSld name="Name Card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216" name="Google Shape;216;p2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 rot="-589932">
              <a:off x="6359946" y="431124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485023" y="4381500"/>
              <a:ext cx="8182128" cy="2130508"/>
            </a:xfrm>
            <a:custGeom>
              <a:rect b="b" l="l" r="r" t="t"/>
              <a:pathLst>
                <a:path extrusionOk="0" h="9621" w="10000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225" name="Google Shape;225;p27"/>
          <p:cNvSpPr txBox="1"/>
          <p:nvPr>
            <p:ph type="title"/>
          </p:nvPr>
        </p:nvSpPr>
        <p:spPr>
          <a:xfrm>
            <a:off x="866440" y="2057400"/>
            <a:ext cx="6422005" cy="2095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/>
          <p:nvPr>
            <p:ph idx="1" type="body"/>
          </p:nvPr>
        </p:nvSpPr>
        <p:spPr>
          <a:xfrm>
            <a:off x="866441" y="5024908"/>
            <a:ext cx="6422004" cy="994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7" name="Google Shape;227;p27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7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866440" y="927100"/>
            <a:ext cx="6423593" cy="709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866440" y="2489200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34" name="Google Shape;234;p28"/>
          <p:cNvSpPr txBox="1"/>
          <p:nvPr>
            <p:ph idx="2" type="body"/>
          </p:nvPr>
        </p:nvSpPr>
        <p:spPr>
          <a:xfrm>
            <a:off x="866440" y="3147164"/>
            <a:ext cx="2313432" cy="2888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35" name="Google Shape;235;p28"/>
          <p:cNvSpPr txBox="1"/>
          <p:nvPr>
            <p:ph idx="3" type="body"/>
          </p:nvPr>
        </p:nvSpPr>
        <p:spPr>
          <a:xfrm>
            <a:off x="3405614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36" name="Google Shape;236;p28"/>
          <p:cNvSpPr txBox="1"/>
          <p:nvPr>
            <p:ph idx="4" type="body"/>
          </p:nvPr>
        </p:nvSpPr>
        <p:spPr>
          <a:xfrm>
            <a:off x="3408471" y="3147164"/>
            <a:ext cx="2318918" cy="2888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37" name="Google Shape;237;p28"/>
          <p:cNvSpPr txBox="1"/>
          <p:nvPr>
            <p:ph idx="5" type="body"/>
          </p:nvPr>
        </p:nvSpPr>
        <p:spPr>
          <a:xfrm>
            <a:off x="5958642" y="2489200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38" name="Google Shape;238;p28"/>
          <p:cNvSpPr txBox="1"/>
          <p:nvPr>
            <p:ph idx="6" type="body"/>
          </p:nvPr>
        </p:nvSpPr>
        <p:spPr>
          <a:xfrm>
            <a:off x="5960935" y="3147164"/>
            <a:ext cx="2316625" cy="2888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39" name="Google Shape;239;p28"/>
          <p:cNvCxnSpPr/>
          <p:nvPr/>
        </p:nvCxnSpPr>
        <p:spPr>
          <a:xfrm>
            <a:off x="3294530" y="2489201"/>
            <a:ext cx="0" cy="3546328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8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28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8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9"/>
          <p:cNvSpPr txBox="1"/>
          <p:nvPr>
            <p:ph type="title"/>
          </p:nvPr>
        </p:nvSpPr>
        <p:spPr>
          <a:xfrm>
            <a:off x="866440" y="927100"/>
            <a:ext cx="6345260" cy="709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9"/>
          <p:cNvSpPr txBox="1"/>
          <p:nvPr>
            <p:ph idx="1" type="body"/>
          </p:nvPr>
        </p:nvSpPr>
        <p:spPr>
          <a:xfrm>
            <a:off x="866440" y="4179596"/>
            <a:ext cx="2313432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47" name="Google Shape;247;p29"/>
          <p:cNvSpPr/>
          <p:nvPr>
            <p:ph idx="2" type="pic"/>
          </p:nvPr>
        </p:nvSpPr>
        <p:spPr>
          <a:xfrm>
            <a:off x="1019055" y="2489200"/>
            <a:ext cx="2015144" cy="1447342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48" name="Google Shape;248;p29"/>
          <p:cNvSpPr txBox="1"/>
          <p:nvPr>
            <p:ph idx="3" type="body"/>
          </p:nvPr>
        </p:nvSpPr>
        <p:spPr>
          <a:xfrm>
            <a:off x="866439" y="4837558"/>
            <a:ext cx="2313432" cy="1187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49" name="Google Shape;249;p29"/>
          <p:cNvSpPr txBox="1"/>
          <p:nvPr>
            <p:ph idx="4" type="body"/>
          </p:nvPr>
        </p:nvSpPr>
        <p:spPr>
          <a:xfrm>
            <a:off x="3411125" y="4179595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50" name="Google Shape;250;p29"/>
          <p:cNvSpPr/>
          <p:nvPr>
            <p:ph idx="5" type="pic"/>
          </p:nvPr>
        </p:nvSpPr>
        <p:spPr>
          <a:xfrm>
            <a:off x="3553189" y="2489200"/>
            <a:ext cx="2015144" cy="1447342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51" name="Google Shape;251;p29"/>
          <p:cNvSpPr txBox="1"/>
          <p:nvPr>
            <p:ph idx="6" type="body"/>
          </p:nvPr>
        </p:nvSpPr>
        <p:spPr>
          <a:xfrm>
            <a:off x="3411125" y="484820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252" name="Google Shape;252;p29"/>
          <p:cNvSpPr txBox="1"/>
          <p:nvPr>
            <p:ph idx="7" type="body"/>
          </p:nvPr>
        </p:nvSpPr>
        <p:spPr>
          <a:xfrm>
            <a:off x="5958642" y="4179596"/>
            <a:ext cx="2318918" cy="6579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0" sz="2000">
                <a:solidFill>
                  <a:srgbClr val="EE52A4"/>
                </a:solidFill>
              </a:defRPr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253" name="Google Shape;253;p29"/>
          <p:cNvSpPr/>
          <p:nvPr>
            <p:ph idx="8" type="pic"/>
          </p:nvPr>
        </p:nvSpPr>
        <p:spPr>
          <a:xfrm>
            <a:off x="6108641" y="2489200"/>
            <a:ext cx="2015144" cy="1447342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254" name="Google Shape;254;p29"/>
          <p:cNvSpPr txBox="1"/>
          <p:nvPr>
            <p:ph idx="9" type="body"/>
          </p:nvPr>
        </p:nvSpPr>
        <p:spPr>
          <a:xfrm>
            <a:off x="5958642" y="4837558"/>
            <a:ext cx="2318918" cy="1187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255" name="Google Shape;255;p29"/>
          <p:cNvCxnSpPr/>
          <p:nvPr/>
        </p:nvCxnSpPr>
        <p:spPr>
          <a:xfrm>
            <a:off x="3290019" y="2489201"/>
            <a:ext cx="0" cy="3546328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9"/>
          <p:cNvCxnSpPr/>
          <p:nvPr/>
        </p:nvCxnSpPr>
        <p:spPr>
          <a:xfrm>
            <a:off x="5849521" y="2489201"/>
            <a:ext cx="0" cy="3546328"/>
          </a:xfrm>
          <a:prstGeom prst="straightConnector1">
            <a:avLst/>
          </a:prstGeom>
          <a:noFill/>
          <a:ln cap="flat" cmpd="sng" w="12700">
            <a:solidFill>
              <a:schemeClr val="accent1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29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29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9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 rot="5400000">
            <a:off x="2271712" y="1081870"/>
            <a:ext cx="3530600" cy="6345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63" name="Google Shape;263;p30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30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0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31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268" name="Google Shape;268;p3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1"/>
            <p:cNvSpPr/>
            <p:nvPr/>
          </p:nvSpPr>
          <p:spPr>
            <a:xfrm rot="4966650">
              <a:off x="4673046" y="5107506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5" name="Google Shape;275;p31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1"/>
          <p:cNvSpPr/>
          <p:nvPr/>
        </p:nvSpPr>
        <p:spPr>
          <a:xfrm rot="5400000">
            <a:off x="1299309" y="1765596"/>
            <a:ext cx="5995993" cy="3326809"/>
          </a:xfrm>
          <a:custGeom>
            <a:rect b="b" l="l" r="r" t="t"/>
            <a:pathLst>
              <a:path extrusionOk="0" h="2752" w="4960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77" name="Google Shape;277;p31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4320" w="576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8" name="Google Shape;278;p31"/>
          <p:cNvSpPr txBox="1"/>
          <p:nvPr>
            <p:ph type="title"/>
          </p:nvPr>
        </p:nvSpPr>
        <p:spPr>
          <a:xfrm rot="5400000">
            <a:off x="4445686" y="3177042"/>
            <a:ext cx="4572001" cy="11135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1"/>
          <p:cNvSpPr txBox="1"/>
          <p:nvPr>
            <p:ph idx="1" type="body"/>
          </p:nvPr>
        </p:nvSpPr>
        <p:spPr>
          <a:xfrm rot="5400000">
            <a:off x="789205" y="1525332"/>
            <a:ext cx="4572001" cy="4416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280" name="Google Shape;280;p31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1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1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algn="ctr">
              <a:spcBef>
                <a:spcPts val="0"/>
              </a:spcBef>
              <a:buNone/>
              <a:defRPr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3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7" name="Google Shape;7;p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" name="Google Shape;8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" name="Google Shape;9;p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" name="Google Shape;10;p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" name="Google Shape;11;p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13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13"/>
            <p:cNvSpPr/>
            <p:nvPr/>
          </p:nvSpPr>
          <p:spPr>
            <a:xfrm rot="-589932">
              <a:off x="6359946" y="179029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dk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13"/>
            <p:cNvSpPr/>
            <p:nvPr/>
          </p:nvSpPr>
          <p:spPr>
            <a:xfrm>
              <a:off x="485023" y="1856450"/>
              <a:ext cx="8173954" cy="4535226"/>
            </a:xfrm>
            <a:custGeom>
              <a:rect b="b" l="l" r="r" t="t"/>
              <a:pathLst>
                <a:path extrusionOk="0" h="2752" w="496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5" name="Google Shape;15;p13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16" name="Google Shape;16;p13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3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1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39" name="Google Shape;39;p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-16712" r="-16986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12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12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12"/>
            <p:cNvSpPr/>
            <p:nvPr/>
          </p:nvSpPr>
          <p:spPr>
            <a:xfrm rot="-589932">
              <a:off x="6359946" y="1790293"/>
              <a:ext cx="2377690" cy="317748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12"/>
            <p:cNvSpPr/>
            <p:nvPr/>
          </p:nvSpPr>
          <p:spPr>
            <a:xfrm>
              <a:off x="485023" y="1856450"/>
              <a:ext cx="8173954" cy="4535226"/>
            </a:xfrm>
            <a:custGeom>
              <a:rect b="b" l="l" r="r" t="t"/>
              <a:pathLst>
                <a:path extrusionOk="0" h="2752" w="4960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7" name="Google Shape;47;p12"/>
            <p:cNvSpPr/>
            <p:nvPr/>
          </p:nvSpPr>
          <p:spPr>
            <a:xfrm>
              <a:off x="0" y="0"/>
              <a:ext cx="9144000" cy="6858000"/>
            </a:xfrm>
            <a:custGeom>
              <a:rect b="b" l="l" r="r" t="t"/>
              <a:pathLst>
                <a:path extrusionOk="0" h="4320" w="576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sp>
        <p:nvSpPr>
          <p:cNvPr id="48" name="Google Shape;48;p12"/>
          <p:cNvSpPr txBox="1"/>
          <p:nvPr>
            <p:ph type="title"/>
          </p:nvPr>
        </p:nvSpPr>
        <p:spPr>
          <a:xfrm>
            <a:off x="866440" y="927099"/>
            <a:ext cx="6345260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19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59" lvl="7" marL="36576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59" lvl="8" marL="4114800" marR="0" rtl="0" algn="l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900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2" name="Google Shape;52;p12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7678616" y="295730"/>
            <a:ext cx="791308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sz="2800" u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8" name="Google Shape;288;p1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289" name="Google Shape;289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p1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91" name="Google Shape;291;p1"/>
          <p:cNvSpPr txBox="1"/>
          <p:nvPr>
            <p:ph type="ctrTitle"/>
          </p:nvPr>
        </p:nvSpPr>
        <p:spPr>
          <a:xfrm>
            <a:off x="3508815" y="1370143"/>
            <a:ext cx="4793452" cy="4157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700"/>
              <a:buFont typeface="Century Gothic"/>
              <a:buNone/>
            </a:pPr>
            <a:r>
              <a:rPr lang="en-US" sz="5700">
                <a:solidFill>
                  <a:schemeClr val="lt1"/>
                </a:solidFill>
              </a:rPr>
              <a:t>Notes App Client–Server System</a:t>
            </a:r>
            <a:endParaRPr/>
          </a:p>
        </p:txBody>
      </p:sp>
      <p:sp>
        <p:nvSpPr>
          <p:cNvPr id="292" name="Google Shape;292;p1"/>
          <p:cNvSpPr txBox="1"/>
          <p:nvPr>
            <p:ph idx="1" type="subTitle"/>
          </p:nvPr>
        </p:nvSpPr>
        <p:spPr>
          <a:xfrm>
            <a:off x="841395" y="1370143"/>
            <a:ext cx="2184819" cy="4157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1360"/>
              <a:buNone/>
            </a:pPr>
            <a:r>
              <a:rPr lang="en-US" sz="1700"/>
              <a:t>BUILT WITH JAVA, JAVAFX, SQLITE, MAVEN, AND SOCKETS</a:t>
            </a:r>
            <a:endParaRPr/>
          </a:p>
          <a:p>
            <a:pPr indent="0" lvl="0" marL="0" rtl="0" algn="r">
              <a:spcBef>
                <a:spcPts val="1000"/>
              </a:spcBef>
              <a:spcAft>
                <a:spcPts val="0"/>
              </a:spcAft>
              <a:buSzPts val="1360"/>
              <a:buNone/>
            </a:pPr>
            <a:r>
              <a:rPr lang="en-US" sz="1700"/>
              <a:t>BY HASAN, MOHAMMED, AND ANGAD</a:t>
            </a:r>
            <a:endParaRPr/>
          </a:p>
        </p:txBody>
      </p:sp>
      <p:cxnSp>
        <p:nvCxnSpPr>
          <p:cNvPr id="293" name="Google Shape;293;p1"/>
          <p:cNvCxnSpPr/>
          <p:nvPr/>
        </p:nvCxnSpPr>
        <p:spPr>
          <a:xfrm>
            <a:off x="3267515" y="1930986"/>
            <a:ext cx="0" cy="3200400"/>
          </a:xfrm>
          <a:prstGeom prst="straightConnector1">
            <a:avLst/>
          </a:prstGeom>
          <a:noFill/>
          <a:ln cap="sq" cmpd="sng" w="158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2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2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Technologies Used</a:t>
            </a:r>
            <a:endParaRPr/>
          </a:p>
        </p:txBody>
      </p:sp>
      <p:sp>
        <p:nvSpPr>
          <p:cNvPr id="299" name="Google Shape;299;p2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Java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JavaFX (GUI)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Maven (Build + Dependency Management)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SQLite Database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JDBC Driver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Client–Server Networking with Sockets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MVC Structure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System Overview</a:t>
            </a:r>
            <a:endParaRPr/>
          </a:p>
        </p:txBody>
      </p:sp>
      <p:sp>
        <p:nvSpPr>
          <p:cNvPr id="305" name="Google Shape;305;p3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A Java-based notes application using a client–server architecture.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Client GUI built with JavaFX.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Server handles login, notes insertion, retrieval, and DB operations.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SQLite database stores user notes persistently.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Communication achieved through TCP sockets.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3400"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System Architecture</a:t>
            </a:r>
            <a:endParaRPr/>
          </a:p>
        </p:txBody>
      </p:sp>
      <p:sp>
        <p:nvSpPr>
          <p:cNvPr id="311" name="Google Shape;311;p4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Components: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clientGUI – JavaFX interface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clientController – Handles actions and communication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server – Manages user requests and DB operations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NotesDB – Manages SQLite CRUD operations</a:t>
            </a:r>
            <a:endParaRPr/>
          </a:p>
          <a:p>
            <a:pPr indent="-251459" lvl="0" marL="342900" rtl="0" algn="l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Flow: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GUI → Controller → Server → Database → Server → GUI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Client GUI (JavaFX)</a:t>
            </a:r>
            <a:endParaRPr/>
          </a:p>
        </p:txBody>
      </p:sp>
      <p:sp>
        <p:nvSpPr>
          <p:cNvPr id="317" name="Google Shape;317;p5"/>
          <p:cNvSpPr txBox="1"/>
          <p:nvPr>
            <p:ph idx="1" type="body"/>
          </p:nvPr>
        </p:nvSpPr>
        <p:spPr>
          <a:xfrm>
            <a:off x="286625" y="2338950"/>
            <a:ext cx="3572700" cy="4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Main screen for creating, viewing, and managing notes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Buttons trigger controller logic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Uses JavaFX components such as TextArea, Buttons, Labels</a:t>
            </a:r>
            <a:endParaRPr/>
          </a:p>
        </p:txBody>
      </p:sp>
      <p:pic>
        <p:nvPicPr>
          <p:cNvPr id="318" name="Google Shape;31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2775" y="2138175"/>
            <a:ext cx="5371224" cy="31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"/>
          <p:cNvSpPr txBox="1"/>
          <p:nvPr>
            <p:ph type="title"/>
          </p:nvPr>
        </p:nvSpPr>
        <p:spPr>
          <a:xfrm>
            <a:off x="865970" y="927098"/>
            <a:ext cx="6343800" cy="7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/>
              <a:t>Client Controller</a:t>
            </a:r>
            <a:endParaRPr/>
          </a:p>
        </p:txBody>
      </p:sp>
      <p:sp>
        <p:nvSpPr>
          <p:cNvPr id="324" name="Google Shape;324;p6"/>
          <p:cNvSpPr txBox="1"/>
          <p:nvPr>
            <p:ph idx="1" type="body"/>
          </p:nvPr>
        </p:nvSpPr>
        <p:spPr>
          <a:xfrm>
            <a:off x="84450" y="3182275"/>
            <a:ext cx="3582000" cy="21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29184" lvl="0" marL="342900" rtl="0" algn="l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• Handles button actions and user interactions.</a:t>
            </a:r>
            <a:endParaRPr/>
          </a:p>
          <a:p>
            <a:pPr indent="-329184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• Sends commands to server: LOGIN, NEW NOTE, GET NOTES.</a:t>
            </a:r>
            <a:endParaRPr/>
          </a:p>
          <a:p>
            <a:pPr indent="-329184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• Parses server responses and updates the GUI.</a:t>
            </a:r>
            <a:endParaRPr/>
          </a:p>
          <a:p>
            <a:pPr indent="-329184" lvl="0" marL="342900" rtl="0" algn="l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n-US"/>
              <a:t>• Acts as communication layer between GUI and server.</a:t>
            </a:r>
            <a:endParaRPr/>
          </a:p>
        </p:txBody>
      </p:sp>
      <p:pic>
        <p:nvPicPr>
          <p:cNvPr id="325" name="Google Shape;32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6450" y="2326200"/>
            <a:ext cx="5477549" cy="353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7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Server</a:t>
            </a:r>
            <a:endParaRPr/>
          </a:p>
        </p:txBody>
      </p:sp>
      <p:sp>
        <p:nvSpPr>
          <p:cNvPr id="331" name="Google Shape;331;p7"/>
          <p:cNvSpPr txBox="1"/>
          <p:nvPr>
            <p:ph idx="1" type="body"/>
          </p:nvPr>
        </p:nvSpPr>
        <p:spPr>
          <a:xfrm>
            <a:off x="864375" y="2489200"/>
            <a:ext cx="6345300" cy="16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Listens on port 9000.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Accepts client commands and processes them.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Uses NotesDB to read/write SQLite database.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Multi-threaded: each client runs in its own thread.</a:t>
            </a:r>
            <a:endParaRPr/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8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37" name="Google Shape;337;p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8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8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2" name="Google Shape;342;p8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rect b="b" l="l" r="r" t="t"/>
              <a:pathLst>
                <a:path extrusionOk="0" h="8000" w="10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p8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44" name="Google Shape;344;p8"/>
          <p:cNvSpPr txBox="1"/>
          <p:nvPr>
            <p:ph type="title"/>
          </p:nvPr>
        </p:nvSpPr>
        <p:spPr>
          <a:xfrm>
            <a:off x="866216" y="973667"/>
            <a:ext cx="2206657" cy="4833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BEBEB"/>
              </a:buClr>
              <a:buSzPts val="3200"/>
              <a:buFont typeface="Century Gothic"/>
              <a:buNone/>
            </a:pPr>
            <a:r>
              <a:rPr lang="en-US">
                <a:solidFill>
                  <a:srgbClr val="EBEBEB"/>
                </a:solidFill>
              </a:rPr>
              <a:t>NotesDB (SQLite)</a:t>
            </a:r>
            <a:endParaRPr/>
          </a:p>
        </p:txBody>
      </p:sp>
      <p:sp>
        <p:nvSpPr>
          <p:cNvPr id="345" name="Google Shape;345;p8"/>
          <p:cNvSpPr/>
          <p:nvPr/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46" name="Google Shape;346;p8"/>
          <p:cNvGrpSpPr/>
          <p:nvPr/>
        </p:nvGrpSpPr>
        <p:grpSpPr>
          <a:xfrm>
            <a:off x="3895725" y="808678"/>
            <a:ext cx="4793456" cy="5245406"/>
            <a:chOff x="0" y="640"/>
            <a:chExt cx="4793456" cy="5245406"/>
          </a:xfrm>
        </p:grpSpPr>
        <p:sp>
          <p:nvSpPr>
            <p:cNvPr id="347" name="Google Shape;347;p8"/>
            <p:cNvSpPr/>
            <p:nvPr/>
          </p:nvSpPr>
          <p:spPr>
            <a:xfrm>
              <a:off x="0" y="640"/>
              <a:ext cx="4793456" cy="149868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8"/>
            <p:cNvSpPr/>
            <p:nvPr/>
          </p:nvSpPr>
          <p:spPr>
            <a:xfrm>
              <a:off x="453352" y="337845"/>
              <a:ext cx="824278" cy="82427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8"/>
            <p:cNvSpPr/>
            <p:nvPr/>
          </p:nvSpPr>
          <p:spPr>
            <a:xfrm>
              <a:off x="1730984" y="640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8"/>
            <p:cNvSpPr txBox="1"/>
            <p:nvPr/>
          </p:nvSpPr>
          <p:spPr>
            <a:xfrm>
              <a:off x="1730984" y="640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en-US" sz="21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Stores user notes in SQLite database.</a:t>
              </a:r>
              <a:endPara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1" name="Google Shape;351;p8"/>
            <p:cNvSpPr/>
            <p:nvPr/>
          </p:nvSpPr>
          <p:spPr>
            <a:xfrm>
              <a:off x="0" y="1873999"/>
              <a:ext cx="4793456" cy="149868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8"/>
            <p:cNvSpPr/>
            <p:nvPr/>
          </p:nvSpPr>
          <p:spPr>
            <a:xfrm>
              <a:off x="453352" y="2211204"/>
              <a:ext cx="824278" cy="82427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8"/>
            <p:cNvSpPr/>
            <p:nvPr/>
          </p:nvSpPr>
          <p:spPr>
            <a:xfrm>
              <a:off x="1730984" y="1873999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8"/>
            <p:cNvSpPr txBox="1"/>
            <p:nvPr/>
          </p:nvSpPr>
          <p:spPr>
            <a:xfrm>
              <a:off x="1730984" y="1873999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en-US" sz="21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JDBC driver handles database connection.</a:t>
              </a:r>
              <a:endPara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5" name="Google Shape;355;p8"/>
            <p:cNvSpPr/>
            <p:nvPr/>
          </p:nvSpPr>
          <p:spPr>
            <a:xfrm>
              <a:off x="0" y="3747359"/>
              <a:ext cx="4793456" cy="1498687"/>
            </a:xfrm>
            <a:prstGeom prst="roundRect">
              <a:avLst>
                <a:gd fmla="val 10000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8"/>
            <p:cNvSpPr/>
            <p:nvPr/>
          </p:nvSpPr>
          <p:spPr>
            <a:xfrm>
              <a:off x="453352" y="4084563"/>
              <a:ext cx="824278" cy="82427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8"/>
            <p:cNvSpPr/>
            <p:nvPr/>
          </p:nvSpPr>
          <p:spPr>
            <a:xfrm>
              <a:off x="1730984" y="3747359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8"/>
            <p:cNvSpPr txBox="1"/>
            <p:nvPr/>
          </p:nvSpPr>
          <p:spPr>
            <a:xfrm>
              <a:off x="1730984" y="3747359"/>
              <a:ext cx="3062471" cy="14986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58600" lIns="158600" spcFirstLastPara="1" rIns="158600" wrap="square" tIns="1586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Century Gothic"/>
                <a:buNone/>
              </a:pPr>
              <a:r>
                <a:rPr b="0" i="0" lang="en-US" sz="21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• Functions include insertNote(), getNotes(), createTable().</a:t>
              </a:r>
              <a:endParaRPr sz="21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8263154" y="467397"/>
            <a:ext cx="521872" cy="59191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65" name="Google Shape;365;p9"/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366" name="Google Shape;366;p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7" name="Google Shape;367;p9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gradFill>
              <a:gsLst>
                <a:gs pos="0">
                  <a:srgbClr val="80406E"/>
                </a:gs>
                <a:gs pos="100000">
                  <a:srgbClr val="101631"/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68" name="Google Shape;368;p9"/>
          <p:cNvSpPr txBox="1"/>
          <p:nvPr>
            <p:ph type="title"/>
          </p:nvPr>
        </p:nvSpPr>
        <p:spPr>
          <a:xfrm>
            <a:off x="750279" y="1209957"/>
            <a:ext cx="2275935" cy="443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entury Gothic"/>
              <a:buNone/>
            </a:pPr>
            <a:r>
              <a:rPr lang="en-US" sz="2800">
                <a:solidFill>
                  <a:schemeClr val="dk1"/>
                </a:solidFill>
              </a:rPr>
              <a:t>Application Features</a:t>
            </a:r>
            <a:endParaRPr/>
          </a:p>
        </p:txBody>
      </p:sp>
      <p:cxnSp>
        <p:nvCxnSpPr>
          <p:cNvPr id="369" name="Google Shape;369;p9"/>
          <p:cNvCxnSpPr/>
          <p:nvPr/>
        </p:nvCxnSpPr>
        <p:spPr>
          <a:xfrm>
            <a:off x="3267515" y="1930986"/>
            <a:ext cx="0" cy="3200400"/>
          </a:xfrm>
          <a:prstGeom prst="straightConnector1">
            <a:avLst/>
          </a:prstGeom>
          <a:noFill/>
          <a:ln cap="sq" cmpd="sng" w="1587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9"/>
          <p:cNvSpPr txBox="1"/>
          <p:nvPr>
            <p:ph idx="1" type="body"/>
          </p:nvPr>
        </p:nvSpPr>
        <p:spPr>
          <a:xfrm>
            <a:off x="3508818" y="1059025"/>
            <a:ext cx="3976641" cy="4739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• User login with ID.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• Create and save new notes.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• Retrieve all notes for a user.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• Real-time communication between client and server.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>
                <a:solidFill>
                  <a:schemeClr val="dk1"/>
                </a:solidFill>
              </a:rPr>
              <a:t>• Persistent storage using SQLite.</a:t>
            </a:r>
            <a:endParaRPr/>
          </a:p>
        </p:txBody>
      </p:sp>
    </p:spTree>
  </p:cSld>
  <p:clrMapOvr>
    <a:masterClrMapping/>
  </p:clrMapOvr>
  <p:transition spd="slow" p14:dur="2500">
    <p:checker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Challenges and Solutions</a:t>
            </a:r>
            <a:endParaRPr/>
          </a:p>
        </p:txBody>
      </p:sp>
      <p:sp>
        <p:nvSpPr>
          <p:cNvPr id="376" name="Google Shape;376;p10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SQLite driver issues → Fixed by bundling JDBC inside src folder.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JavaFX resource loading → Corrected with proper file paths.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Socket communication bugs → Implemented clear request protocol.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Merge conflicts → Resolved using git stash and branch cleanup.</a:t>
            </a:r>
            <a:endParaRPr/>
          </a:p>
        </p:txBody>
      </p:sp>
    </p:spTree>
  </p:cSld>
  <p:clrMapOvr>
    <a:masterClrMapping/>
  </p:clrMapOvr>
  <p:transition spd="slow" p14:dur="2500"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1"/>
          <p:cNvSpPr txBox="1"/>
          <p:nvPr>
            <p:ph type="title"/>
          </p:nvPr>
        </p:nvSpPr>
        <p:spPr>
          <a:xfrm>
            <a:off x="865970" y="927098"/>
            <a:ext cx="6343672" cy="709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entury Gothic"/>
              <a:buNone/>
            </a:pPr>
            <a:r>
              <a:rPr lang="en-US" sz="3200"/>
              <a:t>Conclusion</a:t>
            </a:r>
            <a:endParaRPr/>
          </a:p>
        </p:txBody>
      </p:sp>
      <p:sp>
        <p:nvSpPr>
          <p:cNvPr id="382" name="Google Shape;382;p11"/>
          <p:cNvSpPr txBox="1"/>
          <p:nvPr>
            <p:ph idx="1" type="body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Fully functional client</a:t>
            </a:r>
            <a:r>
              <a:rPr lang="en-US"/>
              <a:t> s</a:t>
            </a: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erver Notes App.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Clean architecture using MVC principles.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SQLite used for persistent note storage.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JavaFX interface provides a smooth user experience.</a:t>
            </a:r>
            <a:endParaRPr/>
          </a:p>
          <a:p>
            <a:pPr indent="-342900" lvl="0" marL="342900" rtl="0" algn="l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• Demonstrates teamwork and real</a:t>
            </a:r>
            <a:r>
              <a:rPr lang="en-US"/>
              <a:t> </a:t>
            </a:r>
            <a:r>
              <a:rPr b="0" i="0" lang="en-US" sz="1800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world software engineering skills.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3000">
        <p14:shred dir="out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